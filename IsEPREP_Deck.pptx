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IsEPREP as an evolution over traditional inventory systems, focusing on emergency preparedness and structured kit/module/item decomposition.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Align with organizational mission (e.g., humanitarian, health, field ops).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operational risk of generic ERPs in field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each principle to a tangible workflow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modular foundation for future cloud sync.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Enables decomposition, targeted consumption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Unique differentiator enabling multi-context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variance detection (e.g., high OUT with no replenishment).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Reduces data entry inconsistency, supports dynamic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Audit completeness.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monthly bucket summation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Balances inbound vs outbound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anomaly spotting (e.g., step-change in OUT not supported by 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Reduces noise for focused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Lower barrier for non-technical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Designed for field operations with intermittent links.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closed feedback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Confidence in consistency &amp; traceability.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mission-aligned design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Future RBAC enhancements.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Minimizes orphaned or misclassified transactions.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Path to eventual migration (e.g., PostgreSQL) if multi-node.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Transparent about current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Designed for low computer literacy environments.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data-driven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Enhances preparedness by incorporating environmental tracking, based on evolving ops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Early warning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Ease plugging into external 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Platform mindset.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Sets expectation for stakeholders.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&gt;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proactive 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Align with exec KPIs.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steps; rehearse for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Realistic narrative improves retention.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Reassure distinctive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Reinforce memory anchors.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Drive momentum.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feedback loops.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IsEPREP – Intelligent Stock Emergency PREParedness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2563EB"/>
                </a:solidFill>
                <a:latin typeface="Calibri"/>
              </a:defRPr>
            </a:pPr>
            <a:r>
              <a:t>Unified Reception &amp; Consumption Management with Operational Resilience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743200"/>
            <a:ext cx="5486400" cy="2743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Hero Image: Medical supply kits or logistics BG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What IsEPREP is: Intelligent platform for emergency stock management.</a:t>
            </a:r>
          </a:p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Core modules: Reception, Consumption, Analytics.</a:t>
            </a:r>
          </a:p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Immediate value: Enhanced traceability and preparedness.</a:t>
            </a:r>
          </a:p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Target users: Humanitarian, health, field ops.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4114800"/>
            <a:ext cx="9144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Data Integrity</a:t>
            </a:r>
          </a:p>
        </p:txBody>
      </p:sp>
      <p:sp>
        <p:nvSpPr>
          <p:cNvPr id="5" name="Oval 4"/>
          <p:cNvSpPr/>
          <p:nvPr/>
        </p:nvSpPr>
        <p:spPr>
          <a:xfrm>
            <a:off x="2743200" y="4114800"/>
            <a:ext cx="9144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Speed</a:t>
            </a:r>
          </a:p>
        </p:txBody>
      </p:sp>
      <p:sp>
        <p:nvSpPr>
          <p:cNvPr id="6" name="Oval 5"/>
          <p:cNvSpPr/>
          <p:nvPr/>
        </p:nvSpPr>
        <p:spPr>
          <a:xfrm>
            <a:off x="4572000" y="4114800"/>
            <a:ext cx="9144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Traceability</a:t>
            </a:r>
          </a:p>
        </p:txBody>
      </p:sp>
      <p:sp>
        <p:nvSpPr>
          <p:cNvPr id="7" name="Oval 6"/>
          <p:cNvSpPr/>
          <p:nvPr/>
        </p:nvSpPr>
        <p:spPr>
          <a:xfrm>
            <a:off x="6400800" y="4114800"/>
            <a:ext cx="9144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Preparedness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Fragmented data</a:t>
            </a:r>
          </a:p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Delayed reporting</a:t>
            </a:r>
          </a:p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Weak traceability</a:t>
            </a:r>
          </a:p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Inability to separate kit vs item usage</a:t>
            </a:r>
          </a:p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Offline difficulties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36576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Before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2743200"/>
            <a:ext cx="36576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After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Vision &amp; Core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Accuracy</a:t>
            </a:r>
          </a:p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Agility</a:t>
            </a:r>
          </a:p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Accountability</a:t>
            </a:r>
          </a:p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Auditability</a:t>
            </a:r>
          </a:p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Accessibility (5A)</a:t>
            </a:r>
          </a:p>
        </p:txBody>
      </p:sp>
      <p:sp>
        <p:nvSpPr>
          <p:cNvPr id="4" name="Oval 3"/>
          <p:cNvSpPr/>
          <p:nvPr/>
        </p:nvSpPr>
        <p:spPr>
          <a:xfrm>
            <a:off x="2743200" y="2743200"/>
            <a:ext cx="3657600" cy="27432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5A Circular Infographic → Readiness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System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UI Layer (Tkinter client)</a:t>
            </a:r>
          </a:p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Data Layer (SQLite/local DB)</a:t>
            </a:r>
          </a:p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Reporting Modules</a:t>
            </a:r>
          </a:p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Optional External Export (Excel)</a:t>
            </a:r>
          </a:p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Future API Gateway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828800"/>
            <a:ext cx="54864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User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200400"/>
            <a:ext cx="54864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Application 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572000"/>
            <a:ext cx="54864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DB &amp; Exports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Data Model – Hierarchical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7315200" cy="3657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Mermaid Tree: Project → Scenario → Kit → Module → Item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Scenarios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What is a Scenario? Configurable operational context (campaign, location, emergency phase).</a:t>
            </a:r>
          </a:p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Use Cases: Isolated flows, reporting segmentation, movement type templating.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3657600"/>
            <a:ext cx="36576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Scenario Tags → Filtered Dashboards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Dual Flow Paradigm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743200" cy="3657600"/>
          </a:xfrm>
          <a:prstGeom prst="roundRect">
            <a:avLst/>
          </a:prstGeom>
          <a:solidFill>
            <a:srgbClr val="2E8B5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Green IN Lane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828800"/>
            <a:ext cx="2743200" cy="3657600"/>
          </a:xfrm>
          <a:prstGeom prst="roundRect">
            <a:avLst/>
          </a:prstGeom>
          <a:solidFill>
            <a:srgbClr val="C0392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Red OUT Lane</a:t>
            </a:r>
          </a:p>
        </p:txBody>
      </p:sp>
      <p:sp>
        <p:nvSpPr>
          <p:cNvPr id="6" name="Hexagon 5"/>
          <p:cNvSpPr/>
          <p:nvPr/>
        </p:nvSpPr>
        <p:spPr>
          <a:xfrm>
            <a:off x="3657600" y="2743200"/>
            <a:ext cx="1828800" cy="1828800"/>
          </a:xfrm>
          <a:prstGeom prst="hex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Central Analytic Hub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Movement Types &amp; Templates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914400">
                <a:tc>
                  <a:txBody>
                    <a:bodyPr/>
                    <a:lstStyle/>
                    <a:p>
                      <a:r>
                        <a:t>Template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Rendered String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IN 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Issue items from {scenario}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Transaction Record Anatomy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Fields: Date, Code, Scenario, Kit/Module refs, Qty_IN, IN_Type, Qty_Out, Out_Type, Movement_Type, Document_Number, Unique_ID.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743200"/>
            <a:ext cx="5486400" cy="2743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Annotated Screenshot Placeholder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Consumption Analytics (Original Module Evolution)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7315200" cy="3657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Screenshot: Table with Monthly Columns + Legend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Reception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1828800" y="1828800"/>
            <a:ext cx="5486400" cy="3657600"/>
          </a:xfrm>
          <a:prstGeom prst="roundRect">
            <a:avLst/>
          </a:prstGeom>
          <a:solidFill>
            <a:srgbClr val="2E8B5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Green Monthly Series Chart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Combined Dashboard (v2.x)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1828800" y="1828800"/>
            <a:ext cx="5486400" cy="3657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Dual-Line Chart: Green IN + Red OUT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Filter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Filters: Stock Action, Management Mode, Scenario, Kit/Module, Type, Item Search, Movement Types, Date range.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743200"/>
            <a:ext cx="54864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Filter Bar Anatomy Diagram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Date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Flexible entry (YYYY-MM-DD, MM/YYYY, Year only).</a:t>
            </a:r>
          </a:p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Default: Today - 1 year to Today.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743200"/>
            <a:ext cx="54864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Timeline with Parsing Examples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Offline &amp; Low Connectivity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657600" y="2743200"/>
            <a:ext cx="18288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Offline Shield Icon + Sync Arrow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Workflow Overview (Macro Flow)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7315200" cy="3657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Mermaid Flowchart: Reception → Allocation → Consumption → Aggregation → Dashboards → Decisions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Detailed Transaction Flow (Micro)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7315200" cy="3657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Mermaid Sequence: User → UI → DB Interactions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Differentiation vs Generic Stock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08000">
                <a:tc>
                  <a:txBody>
                    <a:bodyPr/>
                    <a:lstStyle/>
                    <a:p>
                      <a:r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Generic Inventory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IsEPREP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Kit/Module Decomposition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Often flat SKU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Native multi-level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Dual Flow 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Separate/disjoint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Unified toggle (All/IN/OUT)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Scenario-driven Movement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Manual free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Template substitution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Offline-first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Usually online-centric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Fully functional offline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Date Parsing Flexibility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Tolerant multi-format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Export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Line-level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Filter metadata + hierarchy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Accessibility for Low Literacy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Overloaded forms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Focused, color-coded flows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Preparedness 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Generic replenishment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Emergency readiness metrics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(Optional) User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Examples: Stock Clerk, Supervisor, Analyst.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1828800">
                <a:tc>
                  <a:txBody>
                    <a:bodyPr/>
                    <a:lstStyle/>
                    <a:p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Permissions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Conceptual</a:t>
                      </a:r>
                    </a:p>
                  </a:txBody>
                  <a:tcPr/>
                </a:tc>
              </a:tr>
              <a:tr h="18288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Data Integrity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1828800" y="1828800"/>
            <a:ext cx="5486400" cy="3657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Integrity Checklist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743200"/>
            <a:ext cx="5486400" cy="2743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Annotated Screenshot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(Optional) Performance &amp; Scaling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1828800" y="1828800"/>
            <a:ext cx="5486400" cy="3657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Bar Chart: Response Time vs Record Count (Mock)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Security &amp; Auditability (Current &amp; Roadmap)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1828800" y="2743200"/>
            <a:ext cx="54864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Now → Later Roadmap Arrow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Accessibility &amp; UX Choices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7315200" cy="3657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Annotated Screenshot with Callouts (Enter/Esc)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Analytics &amp; KPIs (Examples)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KPIs: Avg Monthly Consumption, Replenishment Latency, Stock Imbalance, High-Risk Categories.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743200"/>
            <a:ext cx="5486400" cy="2743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Mock Dashboard: Line + Gauge + Variance Bars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Sustainability Integration in IsEPREP (Added by Grok)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Track eco-metrics: Reusable kits ratio, waste from damaged/expired items.</a:t>
            </a:r>
          </a:p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Analytics: Carbon footprint estimates per scenario.</a:t>
            </a:r>
          </a:p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Benefits: Align with green humanitarian standards, reduce long-term costs.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657600"/>
            <a:ext cx="5486400" cy="1828800"/>
          </a:xfrm>
          <a:prstGeom prst="roundRect">
            <a:avLst/>
          </a:prstGeom>
          <a:solidFill>
            <a:srgbClr val="2E8B5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Green Metrics Chart Placeholder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Exception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1828800" y="1828800"/>
            <a:ext cx="5486400" cy="3657600"/>
          </a:xfrm>
          <a:prstGeom prst="roundRect">
            <a:avLst/>
          </a:prstGeom>
          <a:solidFill>
            <a:srgbClr val="C0392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Timeline with Red Flag Markers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Export &amp;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1828800" y="1828800"/>
            <a:ext cx="5486400" cy="3657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Screenshot: Excel Export Schema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(Optional) Extensibility (Plugin Ideas)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Future: Barcode scanning, Cloud sync, Mobile offline, Multi-language.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2743200"/>
            <a:ext cx="3657600" cy="2743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Puzzle Pieces Around Core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09600">
                <a:tc>
                  <a:txBody>
                    <a:bodyPr/>
                    <a:lstStyle/>
                    <a:p>
                      <a: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Key Outputs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Pilot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2–4 wks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Real dataset trial, feedback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Ongoing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Iterate based on user input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Hardening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3–6 wks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Stability, edge cases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Scaling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4–8 wks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Multiple scenarios/sites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Advanced 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 wks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KPIs, anomalies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5486400"/>
            <a:ext cx="7315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Gantt-Style Timeline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(Optional) Change Management &amp;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1828800" y="1828800"/>
            <a:ext cx="5486400" cy="3657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Adoption Curve Graph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Risk &amp;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1828800" y="1828800"/>
            <a:ext cx="5486400" cy="3657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Risk Heat Matrix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Adoption rate</a:t>
            </a:r>
          </a:p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Reduction in stock-outs</a:t>
            </a:r>
          </a:p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Accuracy %</a:t>
            </a:r>
          </a:p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Report preparation time reduction.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2743200"/>
            <a:ext cx="3657600" cy="2743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KPI Dials (Mock)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Live Demo (Placeholder)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1828800" y="1828800"/>
            <a:ext cx="5486400" cy="3657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LIVE DEMO Slate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Case Scenario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1828800" y="1828800"/>
            <a:ext cx="5486400" cy="3657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Chart Snippet with Annotated Spike (e.g., Vaccination Campaign)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(Optional) Competitive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1828800" y="1828800"/>
            <a:ext cx="5486400" cy="3657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Radar Chart: ERP vs Spreadsheets vs WMS vs IsEPREP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FAQ / Objections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“Can it sync to HQ?” – Roadmap.</a:t>
            </a:r>
          </a:p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“What about multi-user conflicts?” – Local-first, future concurrency.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657600"/>
            <a:ext cx="9144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Q&amp;A Icons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Unified view</a:t>
            </a:r>
          </a:p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Readiness-first</a:t>
            </a:r>
          </a:p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Low-friction adoption.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2743200"/>
            <a:ext cx="3657600" cy="2743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Three Stacked Pillars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Next Steps / 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Pilot start date</a:t>
            </a:r>
          </a:p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Champion nominations</a:t>
            </a:r>
          </a:p>
          <a:p>
            <a:pPr algn="l">
              <a:defRPr sz="1800">
                <a:solidFill>
                  <a:srgbClr val="000000"/>
                </a:solidFill>
                <a:latin typeface="Calibri"/>
              </a:defRPr>
            </a:pPr>
            <a:r>
              <a:t>Feedback cadence.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743200"/>
            <a:ext cx="54864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Checklist with Progress Icons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Support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2743200" y="2743200"/>
            <a:ext cx="36576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Contact Card Style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Thank You /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Subdued Supply Chain BG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(Appendix) Data Dictionary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(Appendix) Movement Type Template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(Appendix) Performance Benchmarks (Test runs)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(Appendix) Pseudocode for Aggregation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1F2D4D"/>
                </a:solidFill>
                <a:latin typeface="Montserrat"/>
              </a:defRPr>
            </a:pPr>
            <a:r>
              <a:t>(Appendix) Future API Contract Sketch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